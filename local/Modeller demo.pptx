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46" r:id="rId2"/>
    <p:sldId id="347" r:id="rId3"/>
    <p:sldId id="257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0" r:id="rId13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>
      <p:cViewPr varScale="1">
        <p:scale>
          <a:sx n="104" d="100"/>
          <a:sy n="104" d="100"/>
        </p:scale>
        <p:origin x="232" y="5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366E17-D468-CF4B-14ED-0E1CC30A40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26979C-B421-63F5-F131-13C02F3EF2C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fld id="{BFD79D32-9C2C-704B-8386-875041B3ABF7}" type="datetimeFigureOut">
              <a:rPr lang="en-US"/>
              <a:pPr>
                <a:defRPr/>
              </a:pPr>
              <a:t>6/25/26</a:t>
            </a:fld>
            <a:endParaRPr lang="en-GB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8E69C9E-B102-565A-DF10-4ACB47AEBB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21B388E-C65D-1334-26BE-B6D7059C9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C5090-A495-E482-DA6F-3D0FD44CB2D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610C6-DC10-696B-0A24-6D7F4B35E8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64810BE-E327-7B4A-B4C2-E32CAB43014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_Slide_Dark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419" y="2113244"/>
            <a:ext cx="10515163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740642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tandard_Slide_Dark_Gree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419" y="2104279"/>
            <a:ext cx="10515163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749850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_Slide_Dark_Gree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9132"/>
            <a:ext cx="9483327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609600" y="1477818"/>
            <a:ext cx="10972799" cy="469187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9D388BA-8076-9C30-421F-FC6F728AE5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2D44104-B0B7-784F-9876-510B101C48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9FB9E0-1C89-6F26-FF28-056D688E85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93804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_Slide_Gree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279132"/>
            <a:ext cx="9419514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2"/>
          <p:cNvSpPr>
            <a:spLocks noGrp="1"/>
          </p:cNvSpPr>
          <p:nvPr>
            <p:ph idx="10"/>
          </p:nvPr>
        </p:nvSpPr>
        <p:spPr>
          <a:xfrm>
            <a:off x="609600" y="1477818"/>
            <a:ext cx="10972799" cy="469187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B3BE83F-76C7-1B3E-909C-664EA1F380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CBA9B23-42B2-C649-A937-D3E075DB7E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8269440-CB5B-0453-9EA5-7349D55F01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62558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lumn_Slide_Dark_Gree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4696AAC-2BE4-E67D-7AE3-CD30C0EE1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77963"/>
            <a:ext cx="4024313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Open Sans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/>
              </a:defRPr>
            </a:lvl9pPr>
          </a:lstStyle>
          <a:p>
            <a:pPr eaLnBrk="1" hangingPunct="1">
              <a:defRPr/>
            </a:pPr>
            <a:endParaRPr lang="en-GB" alt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09601" y="279132"/>
            <a:ext cx="9472691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2"/>
          <p:cNvSpPr>
            <a:spLocks noGrp="1"/>
          </p:cNvSpPr>
          <p:nvPr>
            <p:ph idx="10"/>
          </p:nvPr>
        </p:nvSpPr>
        <p:spPr>
          <a:xfrm>
            <a:off x="4766733" y="1477818"/>
            <a:ext cx="6815666" cy="482138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1"/>
          </p:nvPr>
        </p:nvSpPr>
        <p:spPr>
          <a:xfrm>
            <a:off x="609601" y="1477818"/>
            <a:ext cx="3973642" cy="482138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9BD96C6-9454-B17A-8B1D-0F15FD355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B86890C-8742-5048-8457-7E8FB805F8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C4570-0F23-0946-7F81-5D57F75EB29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05194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lumn_Slide_Gree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02F164-6B7F-3FEB-C230-6A92DC7D7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77963"/>
            <a:ext cx="3952875" cy="37861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Open Sans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/>
              </a:defRPr>
            </a:lvl9pPr>
          </a:lstStyle>
          <a:p>
            <a:pPr eaLnBrk="1" hangingPunct="1">
              <a:defRPr/>
            </a:pPr>
            <a:endParaRPr lang="en-US" altLang="en-US" sz="2400"/>
          </a:p>
          <a:p>
            <a:pPr eaLnBrk="1" hangingPunct="1">
              <a:defRPr/>
            </a:pPr>
            <a:endParaRPr lang="en-US" altLang="en-US" sz="2400"/>
          </a:p>
          <a:p>
            <a:pPr eaLnBrk="1" hangingPunct="1">
              <a:defRPr/>
            </a:pPr>
            <a:endParaRPr lang="en-US" altLang="en-US" sz="2400"/>
          </a:p>
          <a:p>
            <a:pPr eaLnBrk="1" hangingPunct="1">
              <a:defRPr/>
            </a:pPr>
            <a:endParaRPr lang="en-US" altLang="en-US" sz="2400"/>
          </a:p>
          <a:p>
            <a:pPr eaLnBrk="1" hangingPunct="1">
              <a:defRPr/>
            </a:pPr>
            <a:endParaRPr lang="en-US" altLang="en-US" sz="2400"/>
          </a:p>
          <a:p>
            <a:pPr eaLnBrk="1" hangingPunct="1">
              <a:defRPr/>
            </a:pPr>
            <a:endParaRPr lang="en-US" altLang="en-US" sz="2400"/>
          </a:p>
          <a:p>
            <a:pPr eaLnBrk="1" hangingPunct="1">
              <a:defRPr/>
            </a:pPr>
            <a:endParaRPr lang="en-US" altLang="en-US" sz="2400"/>
          </a:p>
          <a:p>
            <a:pPr eaLnBrk="1" hangingPunct="1">
              <a:defRPr/>
            </a:pPr>
            <a:endParaRPr lang="en-US" altLang="en-US" sz="2400"/>
          </a:p>
          <a:p>
            <a:pPr eaLnBrk="1" hangingPunct="1">
              <a:defRPr/>
            </a:pPr>
            <a:endParaRPr lang="en-US" altLang="en-US" sz="2400"/>
          </a:p>
          <a:p>
            <a:pPr eaLnBrk="1" hangingPunct="1">
              <a:defRPr/>
            </a:pPr>
            <a:endParaRPr lang="en-US" altLang="en-US" sz="240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09600" y="279132"/>
            <a:ext cx="10198235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2"/>
          <p:cNvSpPr>
            <a:spLocks noGrp="1"/>
          </p:cNvSpPr>
          <p:nvPr>
            <p:ph idx="10"/>
          </p:nvPr>
        </p:nvSpPr>
        <p:spPr>
          <a:xfrm>
            <a:off x="4766733" y="1477818"/>
            <a:ext cx="6815666" cy="482138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609601" y="1477818"/>
            <a:ext cx="3973642" cy="482138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560C0-044D-08CB-21D3-109ADFD0CE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15F9A-A861-54C3-C2F0-4DD51D70196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75AED37D-2CA4-404B-A4B4-773B470761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822042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8B3140B-AFA1-CCEF-3285-6AA318F141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C436B97A-FF09-2F4D-8D8A-BFFD3F7DE0E8}" type="datetime1">
              <a:rPr lang="en-US"/>
              <a:pPr>
                <a:defRPr/>
              </a:pPr>
              <a:t>6/25/26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93FB888-BD3B-C3D4-79FF-F6E1D852A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10100A-82A8-BC76-1C0F-CFF14CF04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D434765B-2E5A-BE44-A59A-C832BC9DC5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5723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C723528-89CE-7E77-A204-043CBD1010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8775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1CDA3CFD-5E79-BA0E-9FEE-E474ECC3CF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8775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merriweather" charset="0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erriweather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erriweather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erriweather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erriweather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erriweather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erriweather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erriweather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erriweather"/>
        </a:defRPr>
      </a:lvl9pPr>
    </p:titleStyle>
    <p:bodyStyle>
      <a:lvl1pPr algn="l" defTabSz="457200" rtl="0" eaLnBrk="0" fontAlgn="base" hangingPunct="0">
        <a:spcBef>
          <a:spcPct val="20000"/>
        </a:spcBef>
        <a:spcAft>
          <a:spcPct val="0"/>
        </a:spcAft>
        <a:buFont typeface="+mj-lt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3188A4A3-5D2E-DB70-349C-8562DB5EE9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4875" y="3711575"/>
            <a:ext cx="10515600" cy="1325563"/>
          </a:xfrm>
        </p:spPr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London School of Hygiene </a:t>
            </a:r>
            <a:b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&amp; Tropical Medicine</a:t>
            </a:r>
          </a:p>
        </p:txBody>
      </p:sp>
      <p:sp>
        <p:nvSpPr>
          <p:cNvPr id="9219" name="Title Placeholder 1">
            <a:extLst>
              <a:ext uri="{FF2B5EF4-FFF2-40B4-BE49-F238E27FC236}">
                <a16:creationId xmlns:a16="http://schemas.microsoft.com/office/drawing/2014/main" id="{10E76BA4-E38A-4FF6-DD2F-19E047350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463" y="5316538"/>
            <a:ext cx="10512425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Improving Health Worldwide</a:t>
            </a:r>
          </a:p>
        </p:txBody>
      </p:sp>
      <p:sp>
        <p:nvSpPr>
          <p:cNvPr id="9220" name="Title 1">
            <a:extLst>
              <a:ext uri="{FF2B5EF4-FFF2-40B4-BE49-F238E27FC236}">
                <a16:creationId xmlns:a16="http://schemas.microsoft.com/office/drawing/2014/main" id="{CAAE0D68-FA30-51B4-CD61-2A8F47265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" y="284163"/>
            <a:ext cx="11991975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Infectious Disease Modelling and its Applications</a:t>
            </a:r>
          </a:p>
        </p:txBody>
      </p:sp>
      <p:sp>
        <p:nvSpPr>
          <p:cNvPr id="9221" name="TextBox 7">
            <a:extLst>
              <a:ext uri="{FF2B5EF4-FFF2-40B4-BE49-F238E27FC236}">
                <a16:creationId xmlns:a16="http://schemas.microsoft.com/office/drawing/2014/main" id="{3487106B-7A7A-7C9C-6BB2-884D1F932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712" y="2438400"/>
            <a:ext cx="94265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modelling demo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7D8A70CE-7EFF-B7E9-120E-2514CC4E42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79400"/>
            <a:ext cx="9483725" cy="622300"/>
          </a:xfrm>
        </p:spPr>
        <p:txBody>
          <a:bodyPr/>
          <a:lstStyle/>
          <a:p>
            <a:pPr eaLnBrk="1" hangingPunct="1"/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2058" name="Slide Number Placeholder 2">
            <a:extLst>
              <a:ext uri="{FF2B5EF4-FFF2-40B4-BE49-F238E27FC236}">
                <a16:creationId xmlns:a16="http://schemas.microsoft.com/office/drawing/2014/main" id="{993F24E5-9160-8420-E516-560F5B6DB8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DAD848C1-0953-3B42-BB19-7982DAF47216}" type="slidenum">
              <a:rPr lang="en-GB"/>
              <a:pPr>
                <a:spcAft>
                  <a:spcPts val="600"/>
                </a:spcAft>
                <a:defRPr/>
              </a:pPr>
              <a:t>2</a:t>
            </a:fld>
            <a:endParaRPr lang="en-GB"/>
          </a:p>
        </p:txBody>
      </p:sp>
      <p:sp>
        <p:nvSpPr>
          <p:cNvPr id="10244" name="Text Box 2">
            <a:extLst>
              <a:ext uri="{FF2B5EF4-FFF2-40B4-BE49-F238E27FC236}">
                <a16:creationId xmlns:a16="http://schemas.microsoft.com/office/drawing/2014/main" id="{C80DEA50-E7D2-F1FA-4568-1B755DADB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77963"/>
            <a:ext cx="10972800" cy="469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476250" indent="-476250"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will: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Make sure you have downloaded R and RStudio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Download the “modeller” demo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Model the first 10 months of the COVID-19 pandemic in the UK</a:t>
            </a:r>
          </a:p>
        </p:txBody>
      </p:sp>
      <p:sp>
        <p:nvSpPr>
          <p:cNvPr id="10245" name="Slide Number Placeholder 2">
            <a:extLst>
              <a:ext uri="{FF2B5EF4-FFF2-40B4-BE49-F238E27FC236}">
                <a16:creationId xmlns:a16="http://schemas.microsoft.com/office/drawing/2014/main" id="{5EE81A0E-7E6E-CBCE-3C65-CF6C2A38961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fld id="{56527E25-7929-3648-AA66-882E4F7E01B3}" type="slidenum">
              <a:rPr lang="en-GB" altLang="en-US" sz="1800"/>
              <a:pPr eaLnBrk="1" hangingPunct="1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2</a:t>
            </a:fld>
            <a:endParaRPr lang="en-GB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085F15D3-E995-1525-1792-D7BA3AF46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9400"/>
            <a:ext cx="9483725" cy="622300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dirty="0"/>
              <a:t>Download the demo</a:t>
            </a:r>
            <a:endParaRPr lang="en-US" altLang="en-US" dirty="0"/>
          </a:p>
        </p:txBody>
      </p:sp>
      <p:sp>
        <p:nvSpPr>
          <p:cNvPr id="11267" name="Slide Number Placeholder 6">
            <a:extLst>
              <a:ext uri="{FF2B5EF4-FFF2-40B4-BE49-F238E27FC236}">
                <a16:creationId xmlns:a16="http://schemas.microsoft.com/office/drawing/2014/main" id="{50F4C312-77E8-21F1-6360-5E3C63BBF05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32DF32F0-ED10-EA46-BB06-654EE83145A2}" type="slidenum">
              <a:rPr lang="en-US" altLang="en-US" sz="1200" smtClean="0">
                <a:solidFill>
                  <a:srgbClr val="898989"/>
                </a:solidFill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1268" name="TextBox 5">
            <a:extLst>
              <a:ext uri="{FF2B5EF4-FFF2-40B4-BE49-F238E27FC236}">
                <a16:creationId xmlns:a16="http://schemas.microsoft.com/office/drawing/2014/main" id="{41B0FE69-126A-B897-68C8-41C9BBE87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4" y="1630363"/>
            <a:ext cx="6289675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Go to: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tinyurl.com</a:t>
            </a:r>
            <a:r>
              <a:rPr lang="en-GB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/LSHTM2026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Unzip the file “</a:t>
            </a:r>
            <a:r>
              <a:rPr lang="en-GB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ModellerDemo.zip</a:t>
            </a:r>
            <a:r>
              <a:rPr lang="en-GB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Go into the </a:t>
            </a:r>
            <a:r>
              <a:rPr lang="en-GB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ModellerDemo</a:t>
            </a:r>
            <a:r>
              <a:rPr lang="en-GB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folder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Open </a:t>
            </a:r>
            <a:r>
              <a:rPr lang="en-GB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ModellerDemo.Rproj</a:t>
            </a:r>
            <a:endParaRPr lang="en-GB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Start by running </a:t>
            </a:r>
            <a:r>
              <a:rPr lang="en-GB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setup.R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 descr="Generated QR Image">
            <a:extLst>
              <a:ext uri="{FF2B5EF4-FFF2-40B4-BE49-F238E27FC236}">
                <a16:creationId xmlns:a16="http://schemas.microsoft.com/office/drawing/2014/main" id="{02447AEB-DF91-E17B-00A2-2EF17510F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524000"/>
            <a:ext cx="3698876" cy="36988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632C4-B257-62BA-86E1-C34007C27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24EBD9B0-4992-E804-921E-A70D7414A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9400"/>
            <a:ext cx="9483725" cy="622300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dirty="0"/>
              <a:t>Running </a:t>
            </a:r>
            <a:r>
              <a:rPr lang="en-GB" altLang="en-US" dirty="0" err="1"/>
              <a:t>setup.R</a:t>
            </a:r>
            <a:endParaRPr lang="en-US" altLang="en-US" dirty="0"/>
          </a:p>
        </p:txBody>
      </p:sp>
      <p:sp>
        <p:nvSpPr>
          <p:cNvPr id="11267" name="Slide Number Placeholder 6">
            <a:extLst>
              <a:ext uri="{FF2B5EF4-FFF2-40B4-BE49-F238E27FC236}">
                <a16:creationId xmlns:a16="http://schemas.microsoft.com/office/drawing/2014/main" id="{E24C9D59-0229-1BB7-145A-5B5F22D7EA4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32DF32F0-ED10-EA46-BB06-654EE83145A2}" type="slidenum">
              <a:rPr lang="en-US" altLang="en-US" sz="1200" smtClean="0">
                <a:solidFill>
                  <a:srgbClr val="898989"/>
                </a:solidFill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4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1268" name="TextBox 5">
            <a:extLst>
              <a:ext uri="{FF2B5EF4-FFF2-40B4-BE49-F238E27FC236}">
                <a16:creationId xmlns:a16="http://schemas.microsoft.com/office/drawing/2014/main" id="{F6E124C2-B858-68EC-C353-198E96132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063962"/>
            <a:ext cx="62896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tinyurl.com</a:t>
            </a:r>
            <a:r>
              <a:rPr lang="en-GB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/LSHTM2026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4AD96-2348-CE2E-4340-E04FAC99C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96706"/>
            <a:ext cx="7772400" cy="4867256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6746622-9699-AA66-9552-B829E413763F}"/>
              </a:ext>
            </a:extLst>
          </p:cNvPr>
          <p:cNvSpPr/>
          <p:nvPr/>
        </p:nvSpPr>
        <p:spPr>
          <a:xfrm>
            <a:off x="5351462" y="1752600"/>
            <a:ext cx="973138" cy="457200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DDCC3A83-6A04-A40C-479D-56BFDE269489}"/>
              </a:ext>
            </a:extLst>
          </p:cNvPr>
          <p:cNvSpPr/>
          <p:nvPr/>
        </p:nvSpPr>
        <p:spPr>
          <a:xfrm rot="5400000">
            <a:off x="4999831" y="520700"/>
            <a:ext cx="1676400" cy="762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EECF90-D553-BF0F-1230-369E31C2DAD5}"/>
              </a:ext>
            </a:extLst>
          </p:cNvPr>
          <p:cNvSpPr txBox="1"/>
          <p:nvPr/>
        </p:nvSpPr>
        <p:spPr>
          <a:xfrm>
            <a:off x="304800" y="1981200"/>
            <a:ext cx="152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Click “source” to run </a:t>
            </a:r>
            <a:r>
              <a:rPr lang="en-US" dirty="0" err="1"/>
              <a:t>setup.R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839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0ACB7-207F-1B9F-A372-BD8B631E0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3669F611-53BF-3659-31A5-DE5771D73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9400"/>
            <a:ext cx="9483725" cy="622300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dirty="0"/>
              <a:t>Open </a:t>
            </a:r>
            <a:r>
              <a:rPr lang="en-GB" altLang="en-US" dirty="0" err="1"/>
              <a:t>seir.R</a:t>
            </a:r>
            <a:endParaRPr lang="en-US" altLang="en-US" dirty="0"/>
          </a:p>
        </p:txBody>
      </p:sp>
      <p:sp>
        <p:nvSpPr>
          <p:cNvPr id="11267" name="Slide Number Placeholder 6">
            <a:extLst>
              <a:ext uri="{FF2B5EF4-FFF2-40B4-BE49-F238E27FC236}">
                <a16:creationId xmlns:a16="http://schemas.microsoft.com/office/drawing/2014/main" id="{713426DA-C127-F927-52AE-98C936ADFF9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32DF32F0-ED10-EA46-BB06-654EE83145A2}" type="slidenum">
              <a:rPr lang="en-US" altLang="en-US" sz="1200" smtClean="0">
                <a:solidFill>
                  <a:srgbClr val="898989"/>
                </a:solidFill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1268" name="TextBox 5">
            <a:extLst>
              <a:ext uri="{FF2B5EF4-FFF2-40B4-BE49-F238E27FC236}">
                <a16:creationId xmlns:a16="http://schemas.microsoft.com/office/drawing/2014/main" id="{516FD616-55A2-79D1-1022-6E573B5FC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063962"/>
            <a:ext cx="62896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tinyurl.com</a:t>
            </a:r>
            <a:r>
              <a:rPr lang="en-GB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/LSHTM2026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C4620E-74FF-4C2E-B18E-0F9257A7E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96706"/>
            <a:ext cx="7772400" cy="4867256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92FEBE0-594D-A990-DF87-3A5B35774EB2}"/>
              </a:ext>
            </a:extLst>
          </p:cNvPr>
          <p:cNvSpPr/>
          <p:nvPr/>
        </p:nvSpPr>
        <p:spPr>
          <a:xfrm>
            <a:off x="2942431" y="1501346"/>
            <a:ext cx="973138" cy="457200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A06366FB-5AB4-5605-FAF8-93B3811708E6}"/>
              </a:ext>
            </a:extLst>
          </p:cNvPr>
          <p:cNvSpPr/>
          <p:nvPr/>
        </p:nvSpPr>
        <p:spPr>
          <a:xfrm rot="5400000">
            <a:off x="2590800" y="269446"/>
            <a:ext cx="1676400" cy="762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92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9536C-BC64-CAB4-36A1-F6626AC75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F7EC4E-C864-7323-95A2-17EB39735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978" y="1198401"/>
            <a:ext cx="7772400" cy="4853010"/>
          </a:xfrm>
          <a:prstGeom prst="rect">
            <a:avLst/>
          </a:prstGeom>
        </p:spPr>
      </p:pic>
      <p:sp>
        <p:nvSpPr>
          <p:cNvPr id="4098" name="Title 1">
            <a:extLst>
              <a:ext uri="{FF2B5EF4-FFF2-40B4-BE49-F238E27FC236}">
                <a16:creationId xmlns:a16="http://schemas.microsoft.com/office/drawing/2014/main" id="{F7B3537A-8B35-D471-0789-2C396072B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9400"/>
            <a:ext cx="9483725" cy="622300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dirty="0"/>
              <a:t>Running </a:t>
            </a:r>
            <a:r>
              <a:rPr lang="en-GB" altLang="en-US" dirty="0" err="1"/>
              <a:t>seir.R</a:t>
            </a:r>
            <a:endParaRPr lang="en-US" altLang="en-US" dirty="0"/>
          </a:p>
        </p:txBody>
      </p:sp>
      <p:sp>
        <p:nvSpPr>
          <p:cNvPr id="11267" name="Slide Number Placeholder 6">
            <a:extLst>
              <a:ext uri="{FF2B5EF4-FFF2-40B4-BE49-F238E27FC236}">
                <a16:creationId xmlns:a16="http://schemas.microsoft.com/office/drawing/2014/main" id="{31940CA2-7366-22D0-07C5-6CEFD072672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32DF32F0-ED10-EA46-BB06-654EE83145A2}" type="slidenum">
              <a:rPr lang="en-US" altLang="en-US" sz="1200" smtClean="0">
                <a:solidFill>
                  <a:srgbClr val="898989"/>
                </a:solidFill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6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1268" name="TextBox 5">
            <a:extLst>
              <a:ext uri="{FF2B5EF4-FFF2-40B4-BE49-F238E27FC236}">
                <a16:creationId xmlns:a16="http://schemas.microsoft.com/office/drawing/2014/main" id="{FB5728A3-16FB-8019-60F1-D7D57CD41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063962"/>
            <a:ext cx="62896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tinyurl.com</a:t>
            </a:r>
            <a:r>
              <a:rPr lang="en-GB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/LSHTM2026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8DADB7-4DE9-8E5B-FA37-2F88BF7BE014}"/>
              </a:ext>
            </a:extLst>
          </p:cNvPr>
          <p:cNvSpPr/>
          <p:nvPr/>
        </p:nvSpPr>
        <p:spPr>
          <a:xfrm>
            <a:off x="5257800" y="1752600"/>
            <a:ext cx="973138" cy="457200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F296ECBB-C0B6-DD03-D454-991A7BB756C1}"/>
              </a:ext>
            </a:extLst>
          </p:cNvPr>
          <p:cNvSpPr/>
          <p:nvPr/>
        </p:nvSpPr>
        <p:spPr>
          <a:xfrm rot="5400000">
            <a:off x="4906169" y="520700"/>
            <a:ext cx="1676400" cy="762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8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A026F-C6B5-972E-B3D3-17251ABBD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6DA15253-7208-7E53-52DF-C3D476ACA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9400"/>
            <a:ext cx="9483725" cy="622300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dirty="0"/>
              <a:t>Model explorer</a:t>
            </a:r>
            <a:endParaRPr lang="en-US" altLang="en-US" dirty="0"/>
          </a:p>
        </p:txBody>
      </p:sp>
      <p:sp>
        <p:nvSpPr>
          <p:cNvPr id="11267" name="Slide Number Placeholder 6">
            <a:extLst>
              <a:ext uri="{FF2B5EF4-FFF2-40B4-BE49-F238E27FC236}">
                <a16:creationId xmlns:a16="http://schemas.microsoft.com/office/drawing/2014/main" id="{FE385FA2-A888-EBC5-966E-93F01B6C709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32DF32F0-ED10-EA46-BB06-654EE83145A2}" type="slidenum">
              <a:rPr lang="en-US" altLang="en-US" sz="1200" smtClean="0">
                <a:solidFill>
                  <a:srgbClr val="898989"/>
                </a:solidFill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1268" name="TextBox 5">
            <a:extLst>
              <a:ext uri="{FF2B5EF4-FFF2-40B4-BE49-F238E27FC236}">
                <a16:creationId xmlns:a16="http://schemas.microsoft.com/office/drawing/2014/main" id="{A2622048-0B4C-0990-28BA-9E5EB33FD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063962"/>
            <a:ext cx="62896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tinyurl.com</a:t>
            </a:r>
            <a:r>
              <a:rPr lang="en-GB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/LSHTM2026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311EF1-50F5-9107-3964-B9D563BFB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467" y="1364094"/>
            <a:ext cx="4811374" cy="5137748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CFFE6652-90CB-4B00-8DFB-037D6ABA2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77963"/>
            <a:ext cx="5638800" cy="469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476250" indent="-476250"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marL="0" indent="0" eaLnBrk="1" hangingPunct="1">
              <a:spcBef>
                <a:spcPct val="50000"/>
              </a:spcBef>
              <a:buFontTx/>
              <a:buNone/>
            </a:pPr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Adjust initial conditions and parameters on the left</a:t>
            </a:r>
          </a:p>
          <a:p>
            <a:pPr marL="0" indent="0" eaLnBrk="1" hangingPunct="1">
              <a:spcBef>
                <a:spcPct val="50000"/>
              </a:spcBef>
              <a:buFontTx/>
              <a:buNone/>
            </a:pPr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Click on the plot to read values. What is the prevalence of infectious people at the epidemic peak?</a:t>
            </a:r>
          </a:p>
          <a:p>
            <a:pPr marL="0" indent="0" eaLnBrk="1" hangingPunct="1">
              <a:spcBef>
                <a:spcPct val="50000"/>
              </a:spcBef>
              <a:buFontTx/>
              <a:buNone/>
            </a:pPr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Can you get the epidemic to peak on day 100?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GB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934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76A0-A1EC-9A6F-6793-18B910F80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B607C147-B158-6001-4CA4-6BDD4B5A5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9400"/>
            <a:ext cx="9483725" cy="6223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dirty="0"/>
              <a:t>The first 10 months of COVID-19 in the UK</a:t>
            </a:r>
            <a:endParaRPr lang="en-US" altLang="en-US" dirty="0"/>
          </a:p>
        </p:txBody>
      </p:sp>
      <p:sp>
        <p:nvSpPr>
          <p:cNvPr id="11267" name="Slide Number Placeholder 6">
            <a:extLst>
              <a:ext uri="{FF2B5EF4-FFF2-40B4-BE49-F238E27FC236}">
                <a16:creationId xmlns:a16="http://schemas.microsoft.com/office/drawing/2014/main" id="{16D21534-590D-78C4-0705-D76498B7939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32DF32F0-ED10-EA46-BB06-654EE83145A2}" type="slidenum">
              <a:rPr lang="en-US" altLang="en-US" sz="1200" smtClean="0">
                <a:solidFill>
                  <a:srgbClr val="898989"/>
                </a:solidFill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1268" name="TextBox 5">
            <a:extLst>
              <a:ext uri="{FF2B5EF4-FFF2-40B4-BE49-F238E27FC236}">
                <a16:creationId xmlns:a16="http://schemas.microsoft.com/office/drawing/2014/main" id="{3DECCF81-A0B0-EB02-EEBB-E8D5F9478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063962"/>
            <a:ext cx="62896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tinyurl.com</a:t>
            </a:r>
            <a:r>
              <a:rPr lang="en-GB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/LSHTM2026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6D6C9E-6917-223B-9801-BC262D86B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480321"/>
            <a:ext cx="7772400" cy="4297407"/>
          </a:xfrm>
          <a:prstGeom prst="rect">
            <a:avLst/>
          </a:prstGeom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4FF57CBE-E650-E978-92E0-9221640B3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77963"/>
            <a:ext cx="3048000" cy="469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476250" indent="-476250"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marL="0" indent="0" eaLnBrk="1" hangingPunct="1">
              <a:spcBef>
                <a:spcPct val="50000"/>
              </a:spcBef>
              <a:buFontTx/>
              <a:buNone/>
            </a:pP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Data provided to modellers by SPI-M</a:t>
            </a:r>
          </a:p>
          <a:p>
            <a:pPr marL="0" indent="0" eaLnBrk="1" hangingPunct="1">
              <a:spcBef>
                <a:spcPct val="50000"/>
              </a:spcBef>
              <a:buFontTx/>
              <a:buNone/>
            </a:pP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Includes deaths, hospital admissions, ICU beds occupied, total beds occupied</a:t>
            </a:r>
          </a:p>
          <a:p>
            <a:pPr marL="0" indent="0" eaLnBrk="1" hangingPunct="1">
              <a:spcBef>
                <a:spcPct val="50000"/>
              </a:spcBef>
              <a:buFontTx/>
              <a:buNone/>
            </a:pP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We will calibrate our model today to deaths</a:t>
            </a:r>
          </a:p>
        </p:txBody>
      </p:sp>
    </p:spTree>
    <p:extLst>
      <p:ext uri="{BB962C8B-B14F-4D97-AF65-F5344CB8AC3E}">
        <p14:creationId xmlns:p14="http://schemas.microsoft.com/office/powerpoint/2010/main" val="349849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D964-D235-908C-EF61-0AF413A4D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1B9A8032-42BA-894E-E1A8-2F75DE949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9400"/>
            <a:ext cx="9483725" cy="6223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dirty="0"/>
              <a:t>Google mobility indicators</a:t>
            </a:r>
            <a:endParaRPr lang="en-US" altLang="en-US" dirty="0"/>
          </a:p>
        </p:txBody>
      </p:sp>
      <p:sp>
        <p:nvSpPr>
          <p:cNvPr id="11267" name="Slide Number Placeholder 6">
            <a:extLst>
              <a:ext uri="{FF2B5EF4-FFF2-40B4-BE49-F238E27FC236}">
                <a16:creationId xmlns:a16="http://schemas.microsoft.com/office/drawing/2014/main" id="{F75CA709-D2E2-5A92-4B2F-9FA188D9132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32DF32F0-ED10-EA46-BB06-654EE83145A2}" type="slidenum">
              <a:rPr lang="en-US" altLang="en-US" sz="1200" smtClean="0">
                <a:solidFill>
                  <a:srgbClr val="898989"/>
                </a:solidFill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1268" name="TextBox 5">
            <a:extLst>
              <a:ext uri="{FF2B5EF4-FFF2-40B4-BE49-F238E27FC236}">
                <a16:creationId xmlns:a16="http://schemas.microsoft.com/office/drawing/2014/main" id="{B85E03A7-E59F-8F68-5201-5FA3C9991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063962"/>
            <a:ext cx="62896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tinyurl.com</a:t>
            </a:r>
            <a:r>
              <a:rPr lang="en-GB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/LSHTM2026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63A233-30BA-BAD7-5D46-98C48C601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327727"/>
            <a:ext cx="7772400" cy="4602595"/>
          </a:xfrm>
          <a:prstGeom prst="rect">
            <a:avLst/>
          </a:prstGeom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01E0E4DA-68FA-B933-E707-F2488BDBF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77963"/>
            <a:ext cx="3048000" cy="469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476250" indent="-476250"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marL="0" indent="0" eaLnBrk="1" hangingPunct="1">
              <a:spcBef>
                <a:spcPct val="50000"/>
              </a:spcBef>
              <a:buFontTx/>
              <a:buNone/>
            </a:pP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Based on mobile phone data from users of Google apps</a:t>
            </a:r>
          </a:p>
          <a:p>
            <a:pPr marL="0" indent="0" eaLnBrk="1" hangingPunct="1">
              <a:spcBef>
                <a:spcPct val="50000"/>
              </a:spcBef>
              <a:buFontTx/>
              <a:buNone/>
            </a:pP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Provided in the public domain during the pandemic for a large number of countries</a:t>
            </a:r>
          </a:p>
          <a:p>
            <a:pPr marL="0" indent="0" eaLnBrk="1" hangingPunct="1">
              <a:spcBef>
                <a:spcPct val="50000"/>
              </a:spcBef>
              <a:buFontTx/>
              <a:buNone/>
            </a:pP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Very helpful resource…</a:t>
            </a:r>
          </a:p>
        </p:txBody>
      </p:sp>
    </p:spTree>
    <p:extLst>
      <p:ext uri="{BB962C8B-B14F-4D97-AF65-F5344CB8AC3E}">
        <p14:creationId xmlns:p14="http://schemas.microsoft.com/office/powerpoint/2010/main" val="415144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4BD3B-5E28-EAC4-6E28-D619919E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6D22F960-DD76-A852-D52F-5CEE65EEF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9400"/>
            <a:ext cx="9483725" cy="622300"/>
          </a:xfrm>
        </p:spPr>
        <p:txBody>
          <a:bodyPr rtlCol="0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dirty="0"/>
              <a:t>Open </a:t>
            </a:r>
            <a:r>
              <a:rPr lang="en-GB" altLang="en-US" dirty="0" err="1"/>
              <a:t>control.R</a:t>
            </a:r>
            <a:endParaRPr lang="en-US" altLang="en-US" dirty="0"/>
          </a:p>
        </p:txBody>
      </p:sp>
      <p:sp>
        <p:nvSpPr>
          <p:cNvPr id="11267" name="Slide Number Placeholder 6">
            <a:extLst>
              <a:ext uri="{FF2B5EF4-FFF2-40B4-BE49-F238E27FC236}">
                <a16:creationId xmlns:a16="http://schemas.microsoft.com/office/drawing/2014/main" id="{2D6A21BD-412C-526E-DC5F-C41D7350C11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32DF32F0-ED10-EA46-BB06-654EE83145A2}" type="slidenum">
              <a:rPr lang="en-US" altLang="en-US" sz="1200" smtClean="0">
                <a:solidFill>
                  <a:srgbClr val="898989"/>
                </a:solidFill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1268" name="TextBox 5">
            <a:extLst>
              <a:ext uri="{FF2B5EF4-FFF2-40B4-BE49-F238E27FC236}">
                <a16:creationId xmlns:a16="http://schemas.microsoft.com/office/drawing/2014/main" id="{AAAB0AFC-34F5-9F14-479C-0B10E65E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063962"/>
            <a:ext cx="62896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tinyurl.com</a:t>
            </a:r>
            <a:r>
              <a:rPr lang="en-GB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/LSHTM2026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A38247-A06D-EA09-A614-ECB77EE96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96706"/>
            <a:ext cx="7772400" cy="4867256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F5C93EE-02FB-B770-7631-1CB944FDC073}"/>
              </a:ext>
            </a:extLst>
          </p:cNvPr>
          <p:cNvSpPr/>
          <p:nvPr/>
        </p:nvSpPr>
        <p:spPr>
          <a:xfrm>
            <a:off x="2209800" y="1501346"/>
            <a:ext cx="973138" cy="457200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0614C2D0-E1F8-EF77-CBF5-F24907AC9EBB}"/>
              </a:ext>
            </a:extLst>
          </p:cNvPr>
          <p:cNvSpPr/>
          <p:nvPr/>
        </p:nvSpPr>
        <p:spPr>
          <a:xfrm rot="5400000">
            <a:off x="1858169" y="269446"/>
            <a:ext cx="1676400" cy="762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12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44773-B2B0-721F-046A-0C8C02D34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3C403457-A7E1-9B4C-BD62-E8809B159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9400"/>
            <a:ext cx="9483725" cy="622300"/>
          </a:xfrm>
        </p:spPr>
        <p:txBody>
          <a:bodyPr rtlCol="0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dirty="0"/>
              <a:t>Open </a:t>
            </a:r>
            <a:r>
              <a:rPr lang="en-GB" altLang="en-US" dirty="0" err="1"/>
              <a:t>control.R</a:t>
            </a:r>
            <a:endParaRPr lang="en-US" altLang="en-US" dirty="0"/>
          </a:p>
        </p:txBody>
      </p:sp>
      <p:sp>
        <p:nvSpPr>
          <p:cNvPr id="11267" name="Slide Number Placeholder 6">
            <a:extLst>
              <a:ext uri="{FF2B5EF4-FFF2-40B4-BE49-F238E27FC236}">
                <a16:creationId xmlns:a16="http://schemas.microsoft.com/office/drawing/2014/main" id="{974F1624-2E8E-4132-04A4-0A7FF043B62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32DF32F0-ED10-EA46-BB06-654EE83145A2}" type="slidenum">
              <a:rPr lang="en-US" altLang="en-US" sz="1200" smtClean="0">
                <a:solidFill>
                  <a:srgbClr val="898989"/>
                </a:solidFill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8D659E-5C3E-8F79-5B0C-F659B11EC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403059" cy="6858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4F9E7331-BDFA-9B1F-00F1-44E578A02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1283493"/>
            <a:ext cx="4343400" cy="5437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476250" indent="-476250"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marL="0" indent="0" eaLnBrk="1" hangingPunct="1">
              <a:spcBef>
                <a:spcPct val="50000"/>
              </a:spcBef>
              <a:buFontTx/>
              <a:buNone/>
            </a:pP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Deselect S, E, I, R, infections below the plot</a:t>
            </a:r>
          </a:p>
          <a:p>
            <a:pPr marL="0" indent="0" eaLnBrk="1" hangingPunct="1">
              <a:spcBef>
                <a:spcPct val="50000"/>
              </a:spcBef>
              <a:buFontTx/>
              <a:buNone/>
            </a:pP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Adjust `</a:t>
            </a:r>
            <a:r>
              <a:rPr lang="en-GB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mobility_a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` and </a:t>
            </a:r>
            <a:r>
              <a:rPr lang="en-GB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mobility_b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 on the left to change how R(t) depends on the activity indicator and match to the number of deaths over time</a:t>
            </a:r>
          </a:p>
          <a:p>
            <a:pPr marL="0" indent="0" eaLnBrk="1" hangingPunct="1">
              <a:spcBef>
                <a:spcPct val="50000"/>
              </a:spcBef>
              <a:buFontTx/>
              <a:buNone/>
            </a:pP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Can you get the model to line up (approximately)?</a:t>
            </a:r>
          </a:p>
          <a:p>
            <a:pPr marL="0" indent="0" eaLnBrk="1" hangingPunct="1">
              <a:spcBef>
                <a:spcPct val="50000"/>
              </a:spcBef>
              <a:buFontTx/>
              <a:buNone/>
            </a:pP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What happens if you adjust the date of lockdown (</a:t>
            </a:r>
            <a:r>
              <a:rPr lang="en-GB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lockdown_start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) by plus or minus a week?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938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566A0DAA-7303-59D0-8184-19842D3672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4875" y="3711575"/>
            <a:ext cx="10515600" cy="1325563"/>
          </a:xfrm>
        </p:spPr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London School of Hygiene </a:t>
            </a:r>
            <a:b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&amp; Tropical Medicine</a:t>
            </a:r>
          </a:p>
        </p:txBody>
      </p:sp>
      <p:sp>
        <p:nvSpPr>
          <p:cNvPr id="15363" name="Title Placeholder 1">
            <a:extLst>
              <a:ext uri="{FF2B5EF4-FFF2-40B4-BE49-F238E27FC236}">
                <a16:creationId xmlns:a16="http://schemas.microsoft.com/office/drawing/2014/main" id="{9717785B-75AF-0A26-82CD-9AD49E463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463" y="5316538"/>
            <a:ext cx="10512425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Improving Health Worldwide</a:t>
            </a:r>
          </a:p>
        </p:txBody>
      </p:sp>
      <p:sp>
        <p:nvSpPr>
          <p:cNvPr id="15364" name="Title 1">
            <a:extLst>
              <a:ext uri="{FF2B5EF4-FFF2-40B4-BE49-F238E27FC236}">
                <a16:creationId xmlns:a16="http://schemas.microsoft.com/office/drawing/2014/main" id="{02821B9B-BB63-3969-E8BD-23A3E6722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" y="284163"/>
            <a:ext cx="11991975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Infectious Disease Modelling and its Applications</a:t>
            </a:r>
          </a:p>
        </p:txBody>
      </p:sp>
      <p:sp>
        <p:nvSpPr>
          <p:cNvPr id="15365" name="TextBox 7">
            <a:extLst>
              <a:ext uri="{FF2B5EF4-FFF2-40B4-BE49-F238E27FC236}">
                <a16:creationId xmlns:a16="http://schemas.microsoft.com/office/drawing/2014/main" id="{89F6E93D-6A64-5753-A722-FBBE8BB61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581233"/>
            <a:ext cx="94265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+mj-lt"/>
              <a:defRPr sz="24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modelling demo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in_Presentation_Title_Page">
  <a:themeElements>
    <a:clrScheme name="Custom 1">
      <a:dk1>
        <a:srgbClr val="000000"/>
      </a:dk1>
      <a:lt1>
        <a:srgbClr val="FFFFFF"/>
      </a:lt1>
      <a:dk2>
        <a:srgbClr val="004550"/>
      </a:dk2>
      <a:lt2>
        <a:srgbClr val="2BAC6D"/>
      </a:lt2>
      <a:accent1>
        <a:srgbClr val="2BAC6D"/>
      </a:accent1>
      <a:accent2>
        <a:srgbClr val="004550"/>
      </a:accent2>
      <a:accent3>
        <a:srgbClr val="00ABCE"/>
      </a:accent3>
      <a:accent4>
        <a:srgbClr val="FBB800"/>
      </a:accent4>
      <a:accent5>
        <a:srgbClr val="E95B0C"/>
      </a:accent5>
      <a:accent6>
        <a:srgbClr val="B1B2B3"/>
      </a:accent6>
      <a:hlink>
        <a:srgbClr val="00ABCE"/>
      </a:hlink>
      <a:folHlink>
        <a:srgbClr val="B1B2B3"/>
      </a:folHlink>
    </a:clrScheme>
    <a:fontScheme name="LSHTM">
      <a:majorFont>
        <a:latin typeface="Merriweather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lshtm-presentation-template-widescreen-16-9 test</Template>
  <TotalTime>323</TotalTime>
  <Words>372</Words>
  <Application>Microsoft Macintosh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Open Sans</vt:lpstr>
      <vt:lpstr>Arial</vt:lpstr>
      <vt:lpstr>merriweather</vt:lpstr>
      <vt:lpstr>+mj-lt</vt:lpstr>
      <vt:lpstr>Calibri</vt:lpstr>
      <vt:lpstr>Times New Roman</vt:lpstr>
      <vt:lpstr>Main_Presentation_Title_Page</vt:lpstr>
      <vt:lpstr>London School of Hygiene  &amp; Tropical Medicine</vt:lpstr>
      <vt:lpstr>Outline</vt:lpstr>
      <vt:lpstr>Download the demo</vt:lpstr>
      <vt:lpstr>Running setup.R</vt:lpstr>
      <vt:lpstr>Open seir.R</vt:lpstr>
      <vt:lpstr>Running seir.R</vt:lpstr>
      <vt:lpstr>Model explorer</vt:lpstr>
      <vt:lpstr>The first 10 months of COVID-19 in the UK</vt:lpstr>
      <vt:lpstr>Google mobility indicators</vt:lpstr>
      <vt:lpstr>Open control.R</vt:lpstr>
      <vt:lpstr>Open control.R</vt:lpstr>
      <vt:lpstr>London School of Hygiene  &amp; Tropical Medicine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model practical</dc:title>
  <dc:creator>evynnycky</dc:creator>
  <cp:lastModifiedBy>Nicholas Davies</cp:lastModifiedBy>
  <cp:revision>38</cp:revision>
  <dcterms:created xsi:type="dcterms:W3CDTF">2006-08-16T00:00:00Z</dcterms:created>
  <dcterms:modified xsi:type="dcterms:W3CDTF">2026-06-25T11:36:51Z</dcterms:modified>
</cp:coreProperties>
</file>